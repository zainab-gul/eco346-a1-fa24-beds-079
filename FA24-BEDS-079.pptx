
<file path=[Content_Types].xml><?xml version="1.0" encoding="utf-8"?>
<Types xmlns="http://schemas.openxmlformats.org/package/2006/content-types"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8" d="100"/>
          <a:sy n="78" d="100"/>
        </p:scale>
        <p:origin x="85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Zaynab Gul" userId="74930e86c00b8e99" providerId="LiveId" clId="{941805D9-709E-4335-A1BD-1A507EB81C8B}"/>
    <pc:docChg chg="modSld">
      <pc:chgData name="Zaynab Gul" userId="74930e86c00b8e99" providerId="LiveId" clId="{941805D9-709E-4335-A1BD-1A507EB81C8B}" dt="2026-10-25T09:19:12.380" v="23" actId="20577"/>
      <pc:docMkLst>
        <pc:docMk/>
      </pc:docMkLst>
      <pc:sldChg chg="modSp mod">
        <pc:chgData name="Zaynab Gul" userId="74930e86c00b8e99" providerId="LiveId" clId="{941805D9-709E-4335-A1BD-1A507EB81C8B}" dt="2026-10-25T09:19:12.380" v="23" actId="20577"/>
        <pc:sldMkLst>
          <pc:docMk/>
          <pc:sldMk cId="0" sldId="259"/>
        </pc:sldMkLst>
        <pc:spChg chg="mod">
          <ac:chgData name="Zaynab Gul" userId="74930e86c00b8e99" providerId="LiveId" clId="{941805D9-709E-4335-A1BD-1A507EB81C8B}" dt="2026-10-25T09:19:12.380" v="23" actId="20577"/>
          <ac:spMkLst>
            <pc:docMk/>
            <pc:sldMk cId="0" sldId="259"/>
            <ac:spMk id="4" creationId="{00000000-0000-0000-0000-000000000000}"/>
          </ac:spMkLst>
        </pc:sp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F2933"/>
                </a:solidFill>
                <a:latin typeface="Arial"/>
              </a:defRPr>
            </a:pPr>
            <a:r>
              <a:rPr lang="en-US" sz="1400" b="0" i="0" u="none" strike="noStrike">
                <a:solidFill>
                  <a:srgbClr val="1F2933"/>
                </a:solidFill>
                <a:latin typeface="Arial"/>
              </a:rPr>
              <a:t>Weighted mean annual earnings by age band (Rs)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Weighted mean (Rs)</c:v>
                </c:pt>
              </c:strCache>
            </c:strRef>
          </c:tx>
          <c:spPr>
            <a:solidFill>
              <a:srgbClr val="4C78A8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Sheet1!$A$2:$A$11</c:f>
              <c:strCache>
                <c:ptCount val="10"/>
                <c:pt idx="0">
                  <c:v>15-19</c:v>
                </c:pt>
                <c:pt idx="1">
                  <c:v>20-24</c:v>
                </c:pt>
                <c:pt idx="2">
                  <c:v>25-29</c:v>
                </c:pt>
                <c:pt idx="3">
                  <c:v>30-34</c:v>
                </c:pt>
                <c:pt idx="4">
                  <c:v>35-39</c:v>
                </c:pt>
                <c:pt idx="5">
                  <c:v>40-44</c:v>
                </c:pt>
                <c:pt idx="6">
                  <c:v>45-49</c:v>
                </c:pt>
                <c:pt idx="7">
                  <c:v>50-54</c:v>
                </c:pt>
                <c:pt idx="8">
                  <c:v>55-59</c:v>
                </c:pt>
                <c:pt idx="9">
                  <c:v>60-64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113382</c:v>
                </c:pt>
                <c:pt idx="1">
                  <c:v>220435</c:v>
                </c:pt>
                <c:pt idx="2">
                  <c:v>307994</c:v>
                </c:pt>
                <c:pt idx="3">
                  <c:v>316659</c:v>
                </c:pt>
                <c:pt idx="4">
                  <c:v>302071</c:v>
                </c:pt>
                <c:pt idx="5">
                  <c:v>316147</c:v>
                </c:pt>
                <c:pt idx="6">
                  <c:v>372723</c:v>
                </c:pt>
                <c:pt idx="7">
                  <c:v>399250</c:v>
                </c:pt>
                <c:pt idx="8">
                  <c:v>350772</c:v>
                </c:pt>
                <c:pt idx="9">
                  <c:v>476422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90C-44F3-BC3F-9FC63419367A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4E7EB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40861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Say: variant, n, weighted vs unweighted median.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Variant 7: earnings of urban Balochistan's workers, PSLM 2019-20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11064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no. 79 = 9 × 8 + 7  →  variant 7 = Balochistan, urban</a:t>
            </a:r>
            <a:endParaRPr lang="en-US" sz="18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8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Sample: 486 earners aged 15-64 with annual earnings &gt; 0; all statistics weighted by hhweight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92608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D55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 250,000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65760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26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median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2788920" y="292608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D55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 264,000</a:t>
            </a:r>
            <a:endParaRPr lang="en-US" sz="2800" dirty="0"/>
          </a:p>
        </p:txBody>
      </p:sp>
      <p:sp>
        <p:nvSpPr>
          <p:cNvPr id="7" name="Text 5"/>
          <p:cNvSpPr txBox="1"/>
          <p:nvPr/>
        </p:nvSpPr>
        <p:spPr>
          <a:xfrm>
            <a:off x="2788920" y="365760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26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unweighted median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5029200" y="292608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D55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 96,000</a:t>
            </a:r>
            <a:endParaRPr lang="en-US" sz="2800" dirty="0"/>
          </a:p>
        </p:txBody>
      </p:sp>
      <p:sp>
        <p:nvSpPr>
          <p:cNvPr id="9" name="Text 7"/>
          <p:cNvSpPr txBox="1"/>
          <p:nvPr/>
        </p:nvSpPr>
        <p:spPr>
          <a:xfrm>
            <a:off x="5029200" y="365760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26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10th pct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7269480" y="292608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D55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 540,000</a:t>
            </a:r>
            <a:endParaRPr lang="en-US" sz="2800" dirty="0"/>
          </a:p>
        </p:txBody>
      </p:sp>
      <p:sp>
        <p:nvSpPr>
          <p:cNvPr id="11" name="Text 9"/>
          <p:cNvSpPr txBox="1"/>
          <p:nvPr/>
        </p:nvSpPr>
        <p:spPr>
          <a:xfrm>
            <a:off x="7269480" y="365760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26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90th pct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9509760" y="292608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D55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5.62</a:t>
            </a:r>
            <a:endParaRPr lang="en-US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9509760" y="365760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26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P90 / P10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457200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median is lower than the unweighted one: households with large weights (each stands for more households) earn less, so ignoring weights overstates the typical earner.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26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PSLM 2019-20 person and household files; scripts/02_distribution.R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Makeover: from R's default scatter to a figure that shows the pattern</a:t>
            </a:r>
            <a:endParaRPr lang="en-US" sz="2800" dirty="0"/>
          </a:p>
        </p:txBody>
      </p:sp>
      <p:pic>
        <p:nvPicPr>
          <p:cNvPr id="3" name="Image 0" descr="figures/default.sv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48640" y="1371600"/>
            <a:ext cx="5120640" cy="3657600"/>
          </a:xfrm>
          <a:prstGeom prst="rect">
            <a:avLst/>
          </a:prstGeom>
        </p:spPr>
      </p:pic>
      <p:pic>
        <p:nvPicPr>
          <p:cNvPr id="4" name="Image 1" descr="figures/relationship.sv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943600" y="1371600"/>
            <a:ext cx="5669280" cy="3685032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548640" y="512064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26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Default: ggplot(data, aes(x, y)) + geom_point()</a:t>
            </a:r>
            <a:endParaRPr lang="en-US" sz="1400" dirty="0"/>
          </a:p>
        </p:txBody>
      </p:sp>
      <p:sp>
        <p:nvSpPr>
          <p:cNvPr id="6" name="Text 2"/>
          <p:cNvSpPr txBox="1"/>
          <p:nvPr/>
        </p:nvSpPr>
        <p:spPr>
          <a:xfrm>
            <a:off x="5943600" y="5120640"/>
            <a:ext cx="5669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55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Redesign: log scale, transparency + jitter, weighted band means, direct annotation, finding as title</a:t>
            </a:r>
            <a:endParaRPr lang="en-US" sz="1400" dirty="0"/>
          </a:p>
        </p:txBody>
      </p:sp>
      <p:sp>
        <p:nvSpPr>
          <p:cNvPr id="7" name="Text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26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default hides nothing about individual points, but hides the weights and the typical value at each age.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important finding: earnings climb to the late 20s, then climb slowly</a:t>
            </a:r>
            <a:endParaRPr lang="en-US" sz="2800" dirty="0"/>
          </a:p>
        </p:txBody>
      </p:sp>
      <p:graphicFrame>
        <p:nvGraphicFramePr>
          <p:cNvPr id="3" name="Chart 0"/>
          <p:cNvGraphicFramePr/>
          <p:nvPr/>
        </p:nvGraphicFramePr>
        <p:xfrm>
          <a:off x="548640" y="1371600"/>
          <a:ext cx="6949440" cy="457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Text 1"/>
          <p:cNvSpPr txBox="1"/>
          <p:nvPr/>
        </p:nvSpPr>
        <p:spPr>
          <a:xfrm>
            <a:off x="7863840" y="1645920"/>
            <a:ext cx="374904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200"/>
              </a:spcAft>
              <a:buNone/>
            </a:pPr>
            <a:r>
              <a:rPr lang="en-US" sz="16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 307,994 at 25-29 vs Rs 372,723 at 45-49</a:t>
            </a:r>
            <a:endParaRPr lang="en-US" sz="16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jump from 15-19 to 25-29 is almost 3×; the next 20 years add about 20%.</a:t>
            </a:r>
            <a:endParaRPr lang="en-US" sz="16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highest band mean (60-64, Rs 476,422) rests on 16 earners: a thin band, not a finding.</a:t>
            </a:r>
            <a:endParaRPr lang="en-US" sz="16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26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 bands (&lt; 30 earners): 15-19 (22), 55-59 (19), 60-64 (16). Cross-section, not a life cycle.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Checked in a second language, and what the figure cannot tell us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63040"/>
            <a:ext cx="1106424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0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and Python agree to the rupee: 25-29 band mean Rs 307,994 in both.</a:t>
            </a:r>
            <a:endParaRPr lang="en-US" sz="20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0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Defaults I had to set: point size and alpha (matplotlib's markers are far bigger), jitter seed, and text kept as text in the SVG.</a:t>
            </a:r>
            <a:endParaRPr lang="en-US" sz="20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0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tell us: whether earnings rise because individuals gain experience or because older and younger cohorts differ (a cross-section, not a panel).</a:t>
            </a:r>
            <a:endParaRPr lang="en-US" sz="20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0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 unseen: who is not an earner. Unpaid and non-working persons are excluded.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dirty="0">
                <a:solidFill>
                  <a:srgbClr val="526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https://github.com/</a:t>
            </a:r>
            <a:r>
              <a:rPr lang="en-US" sz="1100" dirty="0" err="1">
                <a:solidFill>
                  <a:srgbClr val="526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zainab</a:t>
            </a:r>
            <a:r>
              <a:rPr lang="en-US" sz="1100" dirty="0">
                <a:solidFill>
                  <a:srgbClr val="526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-gul/ECO346-A1-FA24-BEDS-079· scripts/04_second_language.py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415</Words>
  <Application>Microsoft Office PowerPoint</Application>
  <PresentationFormat>Widescreen</PresentationFormat>
  <Paragraphs>36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Zaynab Gul</cp:lastModifiedBy>
  <cp:revision>1</cp:revision>
  <dcterms:created xsi:type="dcterms:W3CDTF">2026-10-21T14:38:05Z</dcterms:created>
  <dcterms:modified xsi:type="dcterms:W3CDTF">2026-10-25T09:19:23Z</dcterms:modified>
</cp:coreProperties>
</file>